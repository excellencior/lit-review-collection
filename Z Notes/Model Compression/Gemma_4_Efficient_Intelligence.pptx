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Gemma 4: Efficient Intelligence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B4CC"/>
                </a:solidFill>
                <a:latin typeface="Calibri"/>
              </a:defRPr>
            </a:pPr>
            <a:r>
              <a:t>How Google DeepMind Achieves Near-Frontier Performance</a:t>
            </a:r>
            <a:br/>
            <a:r>
              <a:t>Without Trillion-Parameter Models</a:t>
            </a:r>
            <a:br/>
            <a:br/>
            <a:r>
              <a:t>April 2026  •  Presented by Apurbo Turjo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Efficiency Challenge in Modern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B2A4A"/>
                </a:solidFill>
                <a:latin typeface="Calibri"/>
              </a:defRPr>
            </a:pPr>
            <a:r>
              <a:t>The Problem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GPT-4 class models: estimated 1.8T parameters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Llama 3 405B: requires 8× A100 80GB GPUs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Cost of inference dominates deployment budgets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Edge/mobile deployment essentially impossible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B2A4A"/>
                </a:solidFill>
                <a:latin typeface="Calibri"/>
              </a:defRPr>
            </a:pPr>
            <a:r>
              <a:t>Gemma 4's Central Questions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Can we achieve frontier-level reasoning at 10-100× lower cost?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Can a 2B-parameter model match a 7B model's intelligence?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Can a model run on a smartphone with 1.5 GB RAM?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2A4A"/>
                </a:solidFill>
                <a:latin typeface="Calibri"/>
              </a:defRPr>
            </a:pPr>
            <a:r>
              <a:t>Gemma 4's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46888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A7CA5"/>
                </a:solidFill>
                <a:latin typeface="Calibri"/>
              </a:defRPr>
            </a:pPr>
            <a:r>
              <a:t>31B-level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2004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B8D"/>
                </a:solidFill>
                <a:latin typeface="Calibri"/>
              </a:defRPr>
            </a:pPr>
            <a:r>
              <a:t>running in ~1.5 GB RAM on a smartphone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8404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Calibri"/>
              </a:defRPr>
            </a:pPr>
            <a:r>
              <a:t>5 interlocking compression techniques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3891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7AE60"/>
                </a:solidFill>
                <a:latin typeface="Calibri"/>
              </a:defRPr>
            </a:pPr>
            <a:r>
              <a:t>20-40× effective compression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Gemma 4 Model Family at a Glance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1645920"/>
                <a:gridCol w="1645920"/>
                <a:gridCol w="1280160"/>
                <a:gridCol w="274320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Params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Active Params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Context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HW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Dense + 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5.1B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2.3B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128K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Phone / IoT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E4B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Dense + PLE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8B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4.5B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128K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Phone / Edge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26B A4B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MoE (128 exp.)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25.2B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3.8B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256K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Laptop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31B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Dense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30.7B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30.7B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256K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Server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3891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Key Design Principles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All models: Apache 2.0, natively multimodal (text + image + audio/video)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"Effective" naming: E2B has 5.1B stored params but only 2.3B active per token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MoE 26B: 128 experts, only 9 active → inference cost ≈ 4B dense model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Distilled from Gemini 3 family using Generalized Knowledge Distillation (GKD)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Five Interlocking Efficiency Techniques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1. Per-Layer Embeddings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Layer-specific token representations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371600"/>
            <a:ext cx="54864" cy="822960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Representation quality ↑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2. Hybrid Attention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5 local : 1 global attention ratio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2377440"/>
            <a:ext cx="54864" cy="822960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Attention memory 83% 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8328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29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3. Shared KV 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Last N layers reuse KV states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3383280"/>
            <a:ext cx="54864" cy="822960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Inference memory 44% 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38912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34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4. Mixture-of-Experts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128 experts, 8 active per token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4389120"/>
            <a:ext cx="54864" cy="822960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Compute 93% ↓ in FFN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39496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440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5. Knowledge Distillation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06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GKD from Gemini teacher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5394960"/>
            <a:ext cx="54864" cy="822960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5577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Training signal quality 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1371600"/>
            <a:ext cx="3931920" cy="4846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1554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A7CA5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210312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Each technique targets a</a:t>
            </a:r>
            <a:br/>
            <a:r>
              <a:t>DIFFERENT bottleneck:</a:t>
            </a:r>
            <a:br/>
            <a:br/>
            <a:r>
              <a:t>• PLE → representation</a:t>
            </a:r>
            <a:br/>
            <a:r>
              <a:t>• Hybrid attn → attention cost</a:t>
            </a:r>
            <a:br/>
            <a:r>
              <a:t>• MoE → FFN compute</a:t>
            </a:r>
            <a:br/>
            <a:r>
              <a:t>• Shared KV → inference mem</a:t>
            </a:r>
            <a:br/>
            <a:r>
              <a:t>• KD → training quality</a:t>
            </a:r>
            <a:br/>
            <a:br/>
            <a:r>
              <a:t>They compose without</a:t>
            </a:r>
            <a:br/>
            <a:r>
              <a:t>interference — the innovation</a:t>
            </a:r>
            <a:br/>
            <a:r>
              <a:t>is combining all five cleanly.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Technique 1: Per-Layer Embeddings (PLE)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How It Works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Standard transformer: single embedding shared across all layers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PLE: each decoder layer has its own small embedding lookup table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Adds a layer-specific residual signal to the hidden state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Used in E2B and E4B models to boost representation 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Why It's Efficient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Extra per layer: vocab_size × small_dim ≈ 16M params/layer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36 layers → ~576M extra params (only ~10-15% overhead)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Lookup tables — only one row accessed per token per layer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Compute cost: negligible (table lookup, not matmul)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Result: 2.3B effective params perform like 7B dense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2A4A"/>
                </a:solidFill>
                <a:latin typeface="Calibri"/>
              </a:defRPr>
            </a:pPr>
            <a:r>
              <a:t>Parameter Cost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392B"/>
                </a:solidFill>
                <a:latin typeface="Consolas"/>
              </a:defRPr>
            </a:pPr>
            <a:r>
              <a:t>Option A: Double model width</a:t>
            </a:r>
            <a:br/>
            <a:r>
              <a:t>  d_model: 2048 → 4096</a:t>
            </a:r>
            <a:br/>
            <a:r>
              <a:t>  Cost: 4× more params everywhere</a:t>
            </a:r>
            <a:br/>
            <a:r>
              <a:t>  Extra params: BILLIONS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65760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7AE60"/>
                </a:solidFill>
                <a:latin typeface="Consolas"/>
              </a:defRPr>
            </a:pPr>
            <a:r>
              <a:t>Option B: Add PLE (Gemma 4)</a:t>
            </a:r>
            <a:br/>
            <a:r>
              <a:t>  Extra: ~576M params total</a:t>
            </a:r>
            <a:br/>
            <a:r>
              <a:t>  But adds TARGETED per-layer info</a:t>
            </a:r>
            <a:br/>
            <a:r>
              <a:t>  Result: depth of 7B at 2B cost!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50292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A7CA5"/>
                </a:solidFill>
                <a:latin typeface="Calibri"/>
              </a:defRPr>
            </a:pPr>
            <a:r>
              <a:t>PLE: ~15% more params → ~50% benefit</a:t>
            </a:r>
            <a:br/>
            <a:r>
              <a:t>of doubling the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Technique 2: Hybrid Attention — Local +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The Design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Full attention: O(n²) — at 128K tokens = 16B scores per layer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Sliding window (local): each token sees only 1024 neighbors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Gemma 4 interleaves: 5 local layers : 1 global layer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Final layer always global for full-context 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Memory Savings + p-RoPE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128K tokens, 36 layers — All-Global: 36 units of KV memory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Hybrid 5:1: 6 global + 30×(1024/128K) ≈ 6.24 units → 83% less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p-RoPE on global layers: only 25% of dims rotated for position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Remaining 75% encode pure semantics — stable at 256K context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Local layers spread info; global layers synchronize everything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029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2A4A"/>
                </a:solidFill>
                <a:latin typeface="Calibri"/>
              </a:defRPr>
            </a:pPr>
            <a:r>
              <a:t>Attention Layer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onsolas"/>
              </a:defRPr>
            </a:pPr>
            <a:r>
              <a:t>L1:  ████ LOCAL  (1024 tokens)</a:t>
            </a:r>
            <a:br/>
            <a:r>
              <a:t>L2:  ████ LOCAL</a:t>
            </a:r>
            <a:br/>
            <a:r>
              <a:t>L3:  ████ LOCAL</a:t>
            </a:r>
            <a:br/>
            <a:r>
              <a:t>L4:  ████ LOCAL</a:t>
            </a:r>
            <a:br/>
            <a:r>
              <a:t>L5:  ████ LOCAL</a:t>
            </a:r>
            <a:br/>
            <a:r>
              <a:t>L6:  ████████████████ GLOBAL (full)</a:t>
            </a:r>
            <a:br/>
            <a:r>
              <a:t>L7:  ████ LOCAL</a:t>
            </a:r>
            <a:br/>
            <a:r>
              <a:t>...</a:t>
            </a:r>
            <a:br/>
            <a:r>
              <a:t>L36: ████████████████ GLOBAL ← always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512064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A7CA5"/>
                </a:solidFill>
                <a:latin typeface="Calibri"/>
              </a:defRPr>
            </a:pPr>
            <a:r>
              <a:t>5 whispers + 1 announcement</a:t>
            </a:r>
            <a:br/>
            <a:r>
              <a:t>= surprisingly effective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Technique 3: Shared KV 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How It Works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KV cache: stores Key/Value from all tokens during generation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Standard: each of 36 layers computes and stores its own KV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Observation: deep layers produce nearly IDENTICAL KV representations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Gemma 4: last N layers REUSE an earlier layer's KV cache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The Savings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Layers 1-20: unique KV (diverse info per layer)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Layers 21-36: share Layer 20's KV (nearly identical anyway)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20 unique + 16 shared = 44% fewer KV cache entries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Per attention type: local→last local, global→last global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Quality impact: negligible (deep layers refine, don't reinvent)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371600"/>
            <a:ext cx="48463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544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Calibri"/>
              </a:defRPr>
            </a:pPr>
            <a:r>
              <a:t>KV Diversity Across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0312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onsolas"/>
              </a:defRPr>
            </a:pPr>
            <a:r>
              <a:t>L1→L2:   ████████████  HIGH</a:t>
            </a:r>
            <a:br/>
            <a:r>
              <a:t>L5→L6:   ██████████    HIGH</a:t>
            </a:r>
            <a:br/>
            <a:r>
              <a:t>L10→L11: ████████      MEDIUM</a:t>
            </a:r>
            <a:br/>
            <a:r>
              <a:t>L20→L21: ██████        LOW</a:t>
            </a:r>
            <a:br/>
            <a:r>
              <a:t>L30→L31: ███           VERY LOW</a:t>
            </a:r>
            <a:br/>
            <a:r>
              <a:t>L35→L36: █             ~ZERO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Technique 4: Mixture-of-Experts (MoE)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Architecture (26B A4B)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Replace single giant FFN with 128 smaller expert FFNs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Learned router selects top-8 experts + 1 shared per token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Each expert: ~30M params (specialized sub-network)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Different tokens activate different experts by content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291840"/>
          <a:ext cx="4754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Total parameters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25.2B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Active per token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~3.8B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Experts / MoE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Active experts / token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8+1 shared = 9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Inference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≈ 4B dense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0" y="1371600"/>
            <a:ext cx="5029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Calibri"/>
              </a:defRPr>
            </a:pPr>
            <a:r>
              <a:t>Why Near-Zero Perf. Drop?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"The" → grammar expert</a:t>
            </a:r>
            <a:br/>
            <a:r>
              <a:t>"quantum" → science expert</a:t>
            </a:r>
            <a:br/>
            <a:r>
              <a:t>"=" → math/code expert</a:t>
            </a:r>
            <a:br/>
            <a:r>
              <a:t>"melancholy" → literary expert</a:t>
            </a:r>
            <a:br/>
            <a:br/>
            <a:r>
              <a:t>Dense: ALL 31B params process</a:t>
            </a:r>
            <a:br/>
            <a:r>
              <a:t>ALL tokens → most irrelevant</a:t>
            </a:r>
            <a:br/>
            <a:br/>
            <a:r>
              <a:t>MoE: each token routed to</a:t>
            </a:r>
            <a:br/>
            <a:r>
              <a:t>RELEVANT experts only</a:t>
            </a:r>
            <a:br/>
            <a:r>
              <a:t>→ same knowledge, 7% compute</a:t>
            </a:r>
            <a:br/>
            <a:br/>
            <a:r>
              <a:t>128 specialist doctors vs.</a:t>
            </a:r>
            <a:br/>
            <a:r>
              <a:t>1 who memorized everything.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Technique 5: Knowledge Distillation (GKD)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Standard Distillation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Student learns from teacher's FULL probability distribution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Soft labels carry 'dark knowledge' — relationships between outputs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Temperature τ ≈ 2-10 smooths distribution for richer signal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L = α·KL(teacher ∥ student) + (1-α)·CE(ground truth)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Generalized KD (Gemma 4)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Standard KD: student sees pre-generated data → train-inference mismatch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GKD: student generates its OWN outputs ('on-policy')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Teacher scores student's actual generation → corrects mistakes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Student learns from its OWN errors → better generalization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Teacher: Gemini 3 (frozen) → Student: Gemma 4 E2B/E4B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029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Calibri"/>
              </a:defRPr>
            </a:pPr>
            <a:r>
              <a:t>Dark Knowledge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onsolas"/>
              </a:defRPr>
            </a:pPr>
            <a:r>
              <a:t>"Capital of France is ___"</a:t>
            </a:r>
            <a:br/>
            <a:br/>
            <a:r>
              <a:t>Hard label: Paris → 1 fact</a:t>
            </a:r>
            <a:br/>
            <a:br/>
            <a:r>
              <a:t>Soft label (teacher):</a:t>
            </a:r>
            <a:br/>
            <a:r>
              <a:t>  Paris:  0.52 ████████████</a:t>
            </a:r>
            <a:br/>
            <a:r>
              <a:t>  Lyon:   0.18 ████</a:t>
            </a:r>
            <a:br/>
            <a:r>
              <a:t>  France: 0.12 ███</a:t>
            </a:r>
            <a:br/>
            <a:r>
              <a:t>  Berlin: 0.08 ██</a:t>
            </a:r>
            <a:br/>
            <a:r>
              <a:t>  London: 0.06 █</a:t>
            </a:r>
            <a:br/>
            <a:br/>
            <a:r>
              <a:t>Student learns:</a:t>
            </a:r>
            <a:br/>
            <a:r>
              <a:t>✓ Paris (answer)</a:t>
            </a:r>
            <a:br/>
            <a:r>
              <a:t>✓ Lyon is French (world knowl.)</a:t>
            </a:r>
            <a:br/>
            <a:r>
              <a:t>✓ Berlin/London = capitals</a:t>
            </a:r>
            <a:br/>
            <a:r>
              <a:t>✓ "the" makes no sense (grammar)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Compression Multiplier Stack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286000"/>
                <a:gridCol w="2560320"/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Compression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Quality Retained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KD (Gemini → Student)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~8× (31B → 4B)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~90%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Training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PLE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"Negative" (adds quality)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~95% of 7B perf.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Representation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Hybrid Attention (5:1)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6× less attn.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~99%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Attention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MoE (128→8 experts)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~6.5× compute ↓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~97%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FFN compute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Shared KV 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~2× memory savings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~99%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Inference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4-bit Quantization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4× smaller weights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~98%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Weight storage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926080" y="5212080"/>
            <a:ext cx="630936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53035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Combined: 20-40× effective compression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5760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A7CA5"/>
                </a:solidFill>
                <a:latin typeface="Calibri"/>
              </a:defRPr>
            </a:pPr>
            <a:r>
              <a:t>31B quality → 1.5-3 GB RAM → runs on a smartphone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Official Benchmark Results (Instruction-Tuned)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070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1920240"/>
                <a:gridCol w="1920240"/>
                <a:gridCol w="192024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31B Dense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26B MoE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E4B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E2B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MMLU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69.4%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60.0%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AIME 2026 (Math)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89.2%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88.3%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42.5%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37.5%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LiveCodeBench v6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77.1%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52.0%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44.0%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GPQA Diamond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84.3%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82.3%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58.6%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43.4%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τ²-bench (Agentic)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57.5%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5720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Key Observations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• 26B MoE matches 31B Dense within 1-3% on ALL benchmarks — using only 12% compute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• E4B achieves GPQA 58.6% at just 4.5B active params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• arXiv:2604.07035: E4B (few-shot CoT) beats 26B MoE on weighted accuracy-efficiency (0.675 vs 0.663, 14.9 vs 48.1 GB VRAM)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• Sparse (MoE) ≠ always best tradeoff — depends on architecture × prompt × task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Gemma 4 vs. Other Efficient Model Families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2103120"/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Gemma 4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LLaMA 3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Phi-3/4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Mistral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DeepSeek-V2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Hybrid Attention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✓ (5:1)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✗ (GQA)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✗ (full)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✓ (sliding)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Shared KV 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MoE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✓ (128 exp)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✗ (dense)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✓ (MoE)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✓ (8 exp)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✓ (160 exp)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Distillation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✓ (GKD)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p-RoPE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Quant-Friendly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✓ designed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✓ 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✓ 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✓ 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✓ 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Gemma 4 stacks ALL techniques in one coherent architecture. Each is known individually; the innovation is composing them without interference.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Quantization-Friendly by Design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56032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Design Choice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 Helps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RMSNorm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Stable at low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SwiGLU activation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Smooth gradients, robust to rounding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Standard FFN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Well-understood quant recipes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Clean architecture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llama.cpp, vLLM, MLX, LiteRT</a:t>
                      </a:r>
                    </a:p>
                  </a:txBody>
                  <a:tcPr>
                    <a:solidFill>
                      <a:srgbClr val="EBEF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MoE expert-specific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Frequent: 4-bit, rare: 2-bit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0" y="1371600"/>
            <a:ext cx="5029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554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Calibri"/>
              </a:defRPr>
            </a:pPr>
            <a:r>
              <a:t>Memory Footprint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onsolas"/>
              </a:defRPr>
            </a:pPr>
            <a:r>
              <a:t>GPT-4 class:   ~1000+ GB</a:t>
            </a:r>
            <a:br/>
            <a:r>
              <a:t>  (datacenter required)</a:t>
            </a:r>
            <a:br/>
            <a:br/>
            <a:r>
              <a:t>Llama 3 70B:   ~140 GB FP16</a:t>
            </a:r>
            <a:br/>
            <a:r>
              <a:t>  (8× A100 GPUs)</a:t>
            </a:r>
            <a:br/>
            <a:br/>
            <a:r>
              <a:t>Gemma 4 31B:   ~16 GB (4-bit)</a:t>
            </a:r>
            <a:br/>
            <a:r>
              <a:t>  (single GPU)</a:t>
            </a:r>
            <a:br/>
            <a:br/>
            <a:r>
              <a:t>Gemma 4 E4B:   ~3 GB (4-bit)</a:t>
            </a:r>
            <a:br/>
            <a:r>
              <a:t>  (smartphone) ✓</a:t>
            </a:r>
            <a:br/>
            <a:br/>
            <a:r>
              <a:t>Gemma 4 E2B:   ~1.5 GB (4-bit)</a:t>
            </a:r>
            <a:br/>
            <a:r>
              <a:t>  (IoT / Raspberry Pi) 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73152" cy="1051560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1. Architecture-First Compression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Compression designed INTO the architecture — PLE, hybrid attention, MoE are structural, not post-hoc.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73152" cy="1051560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2. Complementary Technique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Each targets a different bottleneck. They compose multiplicatively: 20-40× compression, ~90-95% quality.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73152" cy="1051560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3. The 'Effective Parameters' Paradigm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519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What matters is not param count but utilization. 2.3B 'effective' params match 7B dense models.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120639"/>
            <a:ext cx="73152" cy="1051560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120639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4. Hardware-Aware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532119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Designed WITH target hardware in mind. Quantization compatibility is a first-class constraint.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References &amp; Further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B2A4A"/>
                </a:solidFill>
                <a:latin typeface="Calibri"/>
              </a:defRPr>
            </a:pPr>
            <a:r>
              <a:t>Primary Sources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Gemma 4 Model Card — ai.google.dev/gemma (April 2026)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arXiv:2604.07035 — Accuracy-Efficiency Tradeoffs (2026)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Vaswani et al. (2017) — Attention Is All You Need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Hinton et al. (2015) — Distilling the Knowledge in a NN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Shazeer et al. (2017) — Sparsely-Gated MoE Layer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Su et al. (2021) — RoFormer: Rotary Position Embedding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Agarwal et al. (2024) — GKD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B2A4A"/>
                </a:solidFill>
                <a:latin typeface="Calibri"/>
              </a:defRPr>
            </a:pPr>
            <a:r>
              <a:t>Related Work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Fedus et al. (2022) — Switch Transformers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Frantar &amp; Alistarh (2023) — SparseGPT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Frantar et al. (2023) — GPTQ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Lin et al. (2024) — AWQ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Dao (2023) — FlashAttention-2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Kwon et al. (2023) — vLLM / PagedAttention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• HuggingFace — google/gemma-4-* model weights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